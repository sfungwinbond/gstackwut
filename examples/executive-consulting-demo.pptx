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16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Pricing</c:v>
                  </c:pt>
                  <c:pt idx="1">
                    <c:v>Routing</c:v>
                  </c:pt>
                  <c:pt idx="2">
                    <c:v>Sourcing</c:v>
                  </c:pt>
                  <c:pt idx="3">
                    <c:v>Sales force</c:v>
                  </c:pt>
                  <c:pt idx="4">
                    <c:v>Automation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D8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 w="12700" cap="flat">
          <a:solidFill>
            <a:srgbClr val="B7C3CD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SULTING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B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64040" y="64922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WUTPACK • FICTIONAL CASE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83096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83096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68C8C"/>
                </a:solidFill>
              </a:rPr>
              <a:t>MARKET-ENTRY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B5D"/>
                </a:solidFill>
              </a:rPr>
              <a:t>Prioritize Coastal and North for the first expansion wave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38912"/>
            <a:ext cx="3200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47180"/>
                </a:solidFill>
              </a:rPr>
              <a:t>Attractiveness and ability to win point to two markets; Central remains a gated 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B7C3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3451860" cy="2125980"/>
          </a:xfrm>
          <a:prstGeom prst="rect">
            <a:avLst/>
          </a:prstGeom>
          <a:solidFill>
            <a:srgbClr val="F2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29100" y="1417320"/>
            <a:ext cx="3451860" cy="2125980"/>
          </a:xfrm>
          <a:prstGeom prst="rect">
            <a:avLst/>
          </a:prstGeom>
          <a:solidFill>
            <a:srgbClr val="E3F1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43300"/>
            <a:ext cx="3451860" cy="2125980"/>
          </a:xfrm>
          <a:prstGeom prst="rect">
            <a:avLst/>
          </a:prstGeom>
          <a:solidFill>
            <a:srgbClr val="F7F1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9100" y="3543300"/>
            <a:ext cx="3451860" cy="2125980"/>
          </a:xfrm>
          <a:prstGeom prst="rect">
            <a:avLst/>
          </a:prstGeom>
          <a:solidFill>
            <a:srgbClr val="DDEB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17320"/>
            <a:ext cx="6903720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B7C3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9100" y="1417320"/>
            <a:ext cx="0" cy="425196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43300"/>
            <a:ext cx="690372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563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80"/>
                </a:solidFill>
              </a:rPr>
              <a:t>BUILD SELECTIVELY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3692" y="15636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8E6B"/>
                </a:solidFill>
              </a:rPr>
              <a:t>PRIORITIZE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41832" y="36896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80"/>
                </a:solidFill>
              </a:rPr>
              <a:t>DEPRIORITIZE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93692" y="36896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6EAA"/>
                </a:solidFill>
              </a:rPr>
              <a:t>PARTNER / TEST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960120" cy="960120"/>
          </a:xfrm>
          <a:prstGeom prst="ellipse">
            <a:avLst/>
          </a:prstGeom>
          <a:solidFill>
            <a:srgbClr val="168C8C">
              <a:alpha val="92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8593A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078431"/>
            <a:ext cx="96012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Coastal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859536" cy="859536"/>
          </a:xfrm>
          <a:prstGeom prst="ellipse">
            <a:avLst/>
          </a:prstGeom>
          <a:solidFill>
            <a:srgbClr val="3E8E6B">
              <a:alpha val="92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8593A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646639"/>
            <a:ext cx="859536" cy="39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4251960"/>
            <a:ext cx="749808" cy="749808"/>
          </a:xfrm>
          <a:prstGeom prst="ellipse">
            <a:avLst/>
          </a:prstGeom>
          <a:solidFill>
            <a:srgbClr val="2C6EAA">
              <a:alpha val="92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8593A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4446910"/>
            <a:ext cx="74980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Central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4343400"/>
            <a:ext cx="621792" cy="621792"/>
          </a:xfrm>
          <a:prstGeom prst="ellipse">
            <a:avLst/>
          </a:prstGeom>
          <a:solidFill>
            <a:srgbClr val="647180">
              <a:alpha val="92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8593A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48840" y="4505066"/>
            <a:ext cx="62179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0" y="5742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180"/>
                </a:solidFill>
              </a:rPr>
              <a:t>Market attractiveness 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 rot="16200000">
            <a:off x="164592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180"/>
                </a:solidFill>
              </a:rPr>
              <a:t>Ability to win 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1417320"/>
            <a:ext cx="3657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1673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D"/>
                </a:solidFill>
              </a:rPr>
              <a:t>Recommendation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69880" y="1664208"/>
            <a:ext cx="868680" cy="283464"/>
          </a:xfrm>
          <a:prstGeom prst="roundRect">
            <a:avLst>
              <a:gd name="adj" fmla="val 25806"/>
            </a:avLst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17236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WAVE 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302752" y="2212848"/>
            <a:ext cx="347472" cy="34747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22997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96528" y="22037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Launch Coastal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96528" y="24414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180"/>
                </a:solidFill>
              </a:rPr>
              <a:t>Fastest growth; protect economics with a partner-led model.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02752" y="3081528"/>
            <a:ext cx="347472" cy="34747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2752" y="316839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96528" y="30723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Scale North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96528" y="331012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180"/>
                </a:solidFill>
              </a:rPr>
              <a:t>Strong fit and lower execution complexity support direct entry.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02752" y="3950208"/>
            <a:ext cx="347472" cy="347472"/>
          </a:xfrm>
          <a:prstGeom prst="ellipse">
            <a:avLst/>
          </a:prstGeom>
          <a:solidFill>
            <a:srgbClr val="2C6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40370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96528" y="39410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Gate Central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96528" y="41788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180"/>
                </a:solidFill>
              </a:rPr>
              <a:t>Run a 90-day commercial test before committing fixed cost.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02752" y="4892040"/>
            <a:ext cx="3127248" cy="530352"/>
          </a:xfrm>
          <a:prstGeom prst="roundRect">
            <a:avLst>
              <a:gd name="adj" fmla="val 6897"/>
            </a:avLst>
          </a:prstGeom>
          <a:solidFill>
            <a:srgbClr val="FFF1D6"/>
          </a:solidFill>
          <a:ln w="15240">
            <a:solidFill>
              <a:srgbClr val="D99A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496519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A35"/>
                </a:solidFill>
              </a:rPr>
              <a:t>Illustrative scoring only. Replace with sourced market, customer, and economics evidence.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83096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68C8C"/>
                </a:solidFill>
              </a:rPr>
              <a:t>VALUE-CREATION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B5D"/>
                </a:solidFill>
              </a:rPr>
              <a:t>Sequence quick wins before scaling the operating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38912"/>
            <a:ext cx="3200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47180"/>
                </a:solidFill>
              </a:rPr>
              <a:t>The first 90 days validate economics and owners; later waves scale only after explicit gates.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B7C3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207008"/>
            <a:ext cx="2816352" cy="530352"/>
          </a:xfrm>
          <a:prstGeom prst="rect">
            <a:avLst/>
          </a:prstGeom>
          <a:solidFill>
            <a:srgbClr val="123B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0–30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9392" y="1325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Mobilize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32704" y="1207008"/>
            <a:ext cx="2816352" cy="530352"/>
          </a:xfrm>
          <a:prstGeom prst="rect">
            <a:avLst/>
          </a:prstGeom>
          <a:solidFill>
            <a:srgbClr val="2C6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31–90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68896" y="1325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22208" y="1207008"/>
            <a:ext cx="2816352" cy="530352"/>
          </a:xfrm>
          <a:prstGeom prst="rect">
            <a:avLst/>
          </a:prstGeom>
          <a:solidFill>
            <a:srgbClr val="168C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1936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3–12 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0" y="1325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572768"/>
            <a:ext cx="201168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B7C3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Commercial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56232" y="1755648"/>
            <a:ext cx="502920" cy="283464"/>
          </a:xfrm>
          <a:prstGeom prst="roundRect">
            <a:avLst>
              <a:gd name="adj" fmla="val 25806"/>
            </a:avLst>
          </a:prstGeom>
          <a:solidFill>
            <a:srgbClr val="647180"/>
          </a:solidFill>
          <a:ln w="12700">
            <a:solidFill>
              <a:srgbClr val="64718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8150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CCO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52928" y="164592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EBF5"/>
          </a:solidFill>
          <a:ln w="11430">
            <a:solidFill>
              <a:srgbClr val="2C6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1764792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Segment accounts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and set price floors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42432" y="164592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3F1E9"/>
          </a:solidFill>
          <a:ln w="11430">
            <a:solidFill>
              <a:srgbClr val="3E8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1764792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Pilot value pricing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in two regions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31936" y="1645920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F2F0"/>
          </a:solidFill>
          <a:ln w="11430">
            <a:solidFill>
              <a:srgbClr val="168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69096" y="1764792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Roll winning offers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across channels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2468880"/>
            <a:ext cx="2011680" cy="804672"/>
          </a:xfrm>
          <a:prstGeom prst="rect">
            <a:avLst/>
          </a:prstGeom>
          <a:solidFill>
            <a:srgbClr val="F2F5F7"/>
          </a:solidFill>
          <a:ln w="8890">
            <a:solidFill>
              <a:srgbClr val="B7C3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633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56232" y="2651760"/>
            <a:ext cx="502920" cy="283464"/>
          </a:xfrm>
          <a:prstGeom prst="roundRect">
            <a:avLst>
              <a:gd name="adj" fmla="val 25806"/>
            </a:avLst>
          </a:prstGeom>
          <a:solidFill>
            <a:srgbClr val="647180"/>
          </a:solidFill>
          <a:ln w="12700">
            <a:solidFill>
              <a:srgbClr val="6471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71119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52928" y="2542032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EBF5"/>
          </a:solidFill>
          <a:ln w="11430">
            <a:solidFill>
              <a:srgbClr val="2C6E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0088" y="2660904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Baseline service cost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and bottlenecks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42432" y="2542032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3F1E9"/>
          </a:solidFill>
          <a:ln w="11430">
            <a:solidFill>
              <a:srgbClr val="3E8E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2660904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Redesign dispatch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and capacity rules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31936" y="2542032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F2F0"/>
          </a:solidFill>
          <a:ln w="11430">
            <a:solidFill>
              <a:srgbClr val="168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69096" y="2660904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Automate repeatable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workflow steps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364992"/>
            <a:ext cx="201168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B7C3C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Organization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56232" y="3547872"/>
            <a:ext cx="502920" cy="283464"/>
          </a:xfrm>
          <a:prstGeom prst="roundRect">
            <a:avLst>
              <a:gd name="adj" fmla="val 25806"/>
            </a:avLst>
          </a:prstGeom>
          <a:solidFill>
            <a:srgbClr val="647180"/>
          </a:solidFill>
          <a:ln w="12700">
            <a:solidFill>
              <a:srgbClr val="64718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360730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CHRO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852928" y="343814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EBF5"/>
          </a:solidFill>
          <a:ln w="11430">
            <a:solidFill>
              <a:srgbClr val="2C6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3557016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Name initiative owners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and decision rights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42432" y="343814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3F1E9"/>
          </a:solidFill>
          <a:ln w="11430">
            <a:solidFill>
              <a:srgbClr val="3E8E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9592" y="3557016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Install weekly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review cadence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31936" y="3438144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F2F0"/>
          </a:solidFill>
          <a:ln w="11430">
            <a:solidFill>
              <a:srgbClr val="168C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69096" y="3557016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Tie incentives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realized value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261104"/>
            <a:ext cx="2011680" cy="804672"/>
          </a:xfrm>
          <a:prstGeom prst="rect">
            <a:avLst/>
          </a:prstGeom>
          <a:solidFill>
            <a:srgbClr val="F2F5F7"/>
          </a:solidFill>
          <a:ln w="8890">
            <a:solidFill>
              <a:srgbClr val="B7C3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425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A35"/>
                </a:solidFill>
              </a:rPr>
              <a:t>Data &amp; tech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56232" y="4443984"/>
            <a:ext cx="502920" cy="283464"/>
          </a:xfrm>
          <a:prstGeom prst="roundRect">
            <a:avLst>
              <a:gd name="adj" fmla="val 25806"/>
            </a:avLst>
          </a:prstGeom>
          <a:solidFill>
            <a:srgbClr val="647180"/>
          </a:solidFill>
          <a:ln w="12700">
            <a:solidFill>
              <a:srgbClr val="6471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450342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CIO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852928" y="4334256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EBF5"/>
          </a:solidFill>
          <a:ln w="11430">
            <a:solidFill>
              <a:srgbClr val="2C6E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90088" y="4453128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Define KPI dictionary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02A35"/>
                </a:solidFill>
              </a:rPr>
              <a:t>and source systems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742432" y="4334256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E3F1E9"/>
          </a:solidFill>
          <a:ln w="11430">
            <a:solidFill>
              <a:srgbClr val="3E8E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9592" y="4453128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Ship executive cockpit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and QA controls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31936" y="4334256"/>
            <a:ext cx="2596896" cy="658368"/>
          </a:xfrm>
          <a:prstGeom prst="roundRect">
            <a:avLst>
              <a:gd name="adj" fmla="val 5556"/>
            </a:avLst>
          </a:prstGeom>
          <a:solidFill>
            <a:srgbClr val="DDF2F0"/>
          </a:solidFill>
          <a:ln w="11430">
            <a:solidFill>
              <a:srgbClr val="168C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69096" y="4453128"/>
            <a:ext cx="23225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Scale governed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A35"/>
                </a:solidFill>
              </a:rPr>
              <a:t>products and alerts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508760" y="5303520"/>
            <a:ext cx="9464040" cy="0"/>
          </a:xfrm>
          <a:prstGeom prst="line">
            <a:avLst/>
          </a:prstGeom>
          <a:noFill/>
          <a:ln w="15240">
            <a:solidFill>
              <a:srgbClr val="B7C3C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58768" y="5157216"/>
            <a:ext cx="292608" cy="292608"/>
          </a:xfrm>
          <a:prstGeom prst="diamond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27248" y="5532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180"/>
                </a:solidFill>
              </a:rPr>
              <a:t>Baseline signed off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6748272" y="5157216"/>
            <a:ext cx="292608" cy="292608"/>
          </a:xfrm>
          <a:prstGeom prst="diamond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5532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180"/>
                </a:solidFill>
              </a:rPr>
              <a:t>Pilot economics proven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9637776" y="5157216"/>
            <a:ext cx="292608" cy="292608"/>
          </a:xfrm>
          <a:prstGeom prst="diamond">
            <a:avLst/>
          </a:prstGeom>
          <a:solidFill>
            <a:srgbClr val="16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06256" y="55321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180"/>
                </a:solidFill>
              </a:rPr>
              <a:t>Scale funding released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749808" y="5806440"/>
            <a:ext cx="10652760" cy="457200"/>
          </a:xfrm>
          <a:prstGeom prst="roundRect">
            <a:avLst>
              <a:gd name="adj" fmla="val 8000"/>
            </a:avLst>
          </a:prstGeom>
          <a:solidFill>
            <a:srgbClr val="DDF2F0"/>
          </a:solidFill>
          <a:ln w="15240">
            <a:solidFill>
              <a:srgbClr val="168C8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7824" y="5879592"/>
            <a:ext cx="103967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A35"/>
                </a:solidFill>
              </a:rPr>
              <a:t>Governance principle: fund the next wave only after the prior gate has an owner, evidence, and realized-value check.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83096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68C8C"/>
                </a:solidFill>
              </a:rPr>
              <a:t>ILLUSTRATIVE VALUE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B5D"/>
                </a:solidFill>
              </a:rPr>
              <a:t>$24M of annualized EBITDA potential is concentrated in three levers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38912"/>
            <a:ext cx="3200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47180"/>
                </a:solidFill>
              </a:rPr>
              <a:t>Pricing, route density, and procurement contribute 75% of the modeled opportunity.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B7C3C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53312"/>
          <a:ext cx="5166360" cy="3154680"/>
        </p:xfrm>
        <a:graphic>
          <a:graphicData uri="http://schemas.openxmlformats.org/drawingml/2006/table">
            <a:tbl>
              <a:tblPr/>
              <a:tblGrid>
                <a:gridCol w="1874520"/>
                <a:gridCol w="1143000"/>
                <a:gridCol w="96012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 lever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EBITDA impact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Accountable owner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 pricing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 density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 sourcing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productivity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Back-office automation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44768" y="1325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A35"/>
                </a:solidFill>
              </a:rPr>
              <a:t>Annualized EBITDA potential (USD millions)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53328" y="1645920"/>
          <a:ext cx="53492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13232" y="4892040"/>
            <a:ext cx="6583680" cy="713232"/>
          </a:xfrm>
          <a:prstGeom prst="roundRect">
            <a:avLst>
              <a:gd name="adj" fmla="val 5128"/>
            </a:avLst>
          </a:prstGeom>
          <a:solidFill>
            <a:srgbClr val="E3F1E9"/>
          </a:solidFill>
          <a:ln w="15240">
            <a:solidFill>
              <a:srgbClr val="3E8E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" y="4965192"/>
            <a:ext cx="63276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A35"/>
                </a:solidFill>
              </a:rPr>
              <a:t>Recommendation: mobilize the top three levers now; keep the remaining $6M as gated upside until pilots validate adoption and run-rate cost.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635240" y="4892040"/>
            <a:ext cx="37673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C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45552" y="5056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80"/>
                </a:solidFill>
              </a:rPr>
              <a:t>MODEL BASIS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851392" y="5020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02A35"/>
                </a:solidFill>
              </a:rPr>
              <a:t>Fictional case • illustrative values • no client data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13232" y="587044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180"/>
                </a:solidFill>
              </a:rPr>
              <a:t>The table preserves exact modeled values; the chart communicates relative magnitude. Validate assumptions before any real decision.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83096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Growth Strategy Case</dc:title>
  <dc:subject>Editable executive consulting diagrams</dc:subject>
  <dc:creator>WutPack</dc:creator>
  <cp:lastModifiedBy>WutPack</cp:lastModifiedBy>
  <cp:revision>1</cp:revision>
  <dcterms:created xsi:type="dcterms:W3CDTF">2026-08-10T10:11:31Z</dcterms:created>
  <dcterms:modified xsi:type="dcterms:W3CDTF">2026-08-10T10:11:31Z</dcterms:modified>
</cp:coreProperties>
</file>