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latin typeface="Arial"/>
              </a:defRPr>
            </a:pPr>
            <a:r>
              <a:t>Coastal is the first gated pilot.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377440"/>
            <a:ext cx="2468880" cy="1828800"/>
          </a:xfrm>
          <a:prstGeom prst="rect">
            <a:avLst/>
          </a:prstGeom>
          <a:solidFill>
            <a:srgbClr val="B8F36B"/>
          </a:solidFill>
          <a:ln>
            <a:solidFill>
              <a:srgbClr val="142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latin typeface="Arial"/>
              </a:defRPr>
            </a:pPr>
            <a:r>
              <a:t>Evidence</a:t>
            </a:r>
          </a:p>
          <a:p>
            <a:r>
              <a:t>81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377440"/>
            <a:ext cx="2468880" cy="1828800"/>
          </a:xfrm>
          <a:prstGeom prst="rect">
            <a:avLst/>
          </a:prstGeom>
          <a:solidFill>
            <a:srgbClr val="F5D969"/>
          </a:solidFill>
          <a:ln>
            <a:solidFill>
              <a:srgbClr val="142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latin typeface="Arial"/>
              </a:defRPr>
            </a:pPr>
            <a:r>
              <a:t>Economics</a:t>
            </a:r>
          </a:p>
          <a:p>
            <a:r>
              <a:t>30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2377440"/>
            <a:ext cx="2468880" cy="1828800"/>
          </a:xfrm>
          <a:prstGeom prst="rect">
            <a:avLst/>
          </a:prstGeom>
          <a:solidFill>
            <a:srgbClr val="F26B38"/>
          </a:solidFill>
          <a:ln>
            <a:solidFill>
              <a:srgbClr val="142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latin typeface="Arial"/>
              </a:defRPr>
            </a:pPr>
            <a:r>
              <a:t>Gate</a:t>
            </a:r>
          </a:p>
          <a:p>
            <a:r>
              <a:t>CFO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2377440"/>
            <a:ext cx="2468880" cy="1828800"/>
          </a:xfrm>
          <a:prstGeom prst="rect">
            <a:avLst/>
          </a:prstGeom>
          <a:solidFill>
            <a:srgbClr val="176B4D"/>
          </a:solidFill>
          <a:ln>
            <a:solidFill>
              <a:srgbClr val="142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latin typeface="Arial"/>
              </a:defRPr>
            </a:pPr>
            <a:r>
              <a:t>Launch</a:t>
            </a:r>
          </a:p>
          <a:p>
            <a:r>
              <a:t>if proven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